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Коротко: система ведёт полный жизненный цикл уникальных идентификаторов партий и кодов маркировки, связывая производство, «Честный Знак» и учётные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не в маркировке как таковой, а в разрозненности и ручном труде вокруг неё.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Система не заменяет производственные системы, а становится единым источником правды по УИП и кодам.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сводка: дальше — как именно устроено и за счёт чего достигается.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системы-потребители (производство, 1С). Справа — интеграции с «Честным Знаком» и локальными серверами маркировки.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надёжность: даже если система или завод были недоступны, данные не теряются.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Полный цикл автоматизирован: система сама удаляет неиспользованные, закрывает и архивирует партии.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процессы, которые раньше требовали ручного контроля; сейчас идут по расписанию.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основа сквозной прослеживаемости: от единицы товара до паллеты.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описан и доступен в Swagger, что ускоряет подключение смежных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ответ на вопрос «что будет, если система/завод недоступны час»: данные догоняются, потерь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Аудит закрывает вопросы внутреннего контроля и разбора спорных ситуаций.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Публичный контур — только чтение и приём данных; всё управляющее — за правами администратора.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Стандартный, поддерживаемый стек; развёртывание и обновление автоматизированы.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отталкивается от ручного резервирования в СУЗ и ручной подстановки номера/GTIN в отчёты. При фактических объёмах цифры уточняются.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Формулировки качественные: точные проценты зависят от объёмов и процессов предприятия.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Система развивается: ближайшие шаги — техзрение и третий уровень агрегации.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Завершение: система закрывает обязательные требования и даёт управленческую прозрачность.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52044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«Молвест.СистемаУправленияПартиями»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CFE0F0"/>
                </a:solidFill>
                <a:latin typeface="Calibri"/>
              </a:rPr>
              <a:t>Единая платформа учёта УИП и кодов маркировки «Честный Знак»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Ценность, интеграции и надёжность — кратко о системе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FC0DC"/>
                </a:solidFill>
                <a:latin typeface="Calibri"/>
              </a:rPr>
              <a:t>ПАО МК «Воронежский»  •  Производство  •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C0DC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FC0D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Зачем это нужно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Маркировка — обязательна, а данные разрознены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Маркировка «Честный Знак» обязательна и строго регламентирована.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Ошибки ведут к блокировке кодов, штрафам и остановке отгрузки.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Данные о партиях и кодах разбросаны между системами.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Производство (MES), склад (WMS), 1С, локальные серверы «Молвест.Маркировка».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Много ручных операций и «человеческий фактор».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Резервирование, контроль сроков, снятие с резерва, сверка статусов.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Нет единой истории и прослеживаемости.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Сложно быстро ответить: где, когда и в какой партии выпущен код.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Риск рассинхрона данных между системами.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Дубли номеров, потерянные задания, устаревшие статусы.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Решение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Единый сервис — «мастер» по УИП и кодам маркировки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•  Единый центр генерации, резервирования и учёта УИП (номеров партий).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•  Приём кодов маркировки (CIS) всех уровней: единица → коробка → паллета.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•  Автоматическая синхронизация с «Честным Знаком» и локальными серверами «Молвест.Маркировка».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•  Единый REST API для смежных систем (1С, MES, WMS) и страницы оператора.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•  Полный аудит: каждое изменение статуса зафиксировано с источником и автором.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•  Надёжность: устойчивость к сбоям, повторные попытки, отсутствие потери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Ключевая ценность для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Единый источник правды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Нет дублей и рассинхрона по УИП и кодам между системами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Автоматизация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Резервирование, контроль сроков, снятие с резерва и архивация — без ручного труда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46304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46304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Прослеживаемость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Полная история: код → партия → линия → завод → отгрузка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93192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Надёжность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Система переживает сбои и догоняет пропущенные данные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393192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16052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Прозрачность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Статусы и отчётность доступны руководству и смежным системам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393192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16052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Готовность к росту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Мультизаводность, контейнеризация, автодеплой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Как система встроена в ландшафт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Центральный узел обмена данными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51460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16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2514600"/>
            <a:ext cx="3099816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Молвест.
СистемаУправленияПартиями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28800"/>
            <a:ext cx="29626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План производства / 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3108960" cy="86868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200400"/>
            <a:ext cx="29626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1С (ERP / УХ / УПП)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657600" y="2651760"/>
            <a:ext cx="777240" cy="365760"/>
          </a:xfrm>
          <a:prstGeom prst="leftRight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0" y="1463040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463040"/>
            <a:ext cx="30083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Молвест.Маркировка
(локальные серверы заводов)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514600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2514600"/>
            <a:ext cx="30083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СУЗ / TrueAPI
«Честный Знак»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566160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3566160"/>
            <a:ext cx="30083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Национальный каталог (ГИС МТ)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617720"/>
            <a:ext cx="3154680" cy="64008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4617720"/>
            <a:ext cx="30083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WMS (задел)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7772400" y="2651760"/>
            <a:ext cx="777240" cy="365760"/>
          </a:xfrm>
          <a:prstGeom prst="leftRight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206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Система — единая точка обмена: принимает задания, отдаёт статусы, хранит коды и историю.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Все внешние адреса — per-завод (задаются в справочнике заводов).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Обмен с локальными серверами «Молвест.Маркировка»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Задание поступает двумя путями — двусторонняя устойчивость.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Push: сервер завода отправляет задание в систему. Pull: система сама забирает изменения.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Система догоняет пропущенные данные после недоступности.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Персональная метка синхронизации по каждому заводу: сбой не «съедает» окно изменений.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Коды забираются по заданию и иерархически связываются.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Единица → коробка → паллета; повторная синхронизация безопасна (идемпотентность).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Факт выпуска («Факт») считается по фактически нанесённым кодам.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План/Факт всегда актуален, а не по устаревшему значению задания.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Ошибки видны и не теряются: повтор задачи через 5 минут.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Плюс ручной полный запуск синхронизации администратором.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Управление жизненным циклом УИП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От черновика до архива — автоматически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1993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draft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Черновик: номер сформирован локально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61488" y="2697480"/>
            <a:ext cx="146304" cy="365760"/>
          </a:xfrm>
          <a:prstGeom prst="right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07792" y="21945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304288"/>
            <a:ext cx="1993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reserved_cz /
reserved_local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Зарезервирован в «Честном Знаке» (на 30 дней)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20640" y="2697480"/>
            <a:ext cx="146304" cy="365760"/>
          </a:xfrm>
          <a:prstGeom prst="right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66944" y="21945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2304288"/>
            <a:ext cx="1993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registered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Отчёт о нанесении отправлен, партия зарегистрирована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79792" y="2697480"/>
            <a:ext cx="146304" cy="365760"/>
          </a:xfrm>
          <a:prstGeom prst="right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6096" y="21945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2304288"/>
            <a:ext cx="1993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closed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Партия закрыта (не использовалась 3 дня)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38944" y="2697480"/>
            <a:ext cx="146304" cy="365760"/>
          </a:xfrm>
          <a:prstGeom prst="rightArrow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85248" y="21945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6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4976" y="2304288"/>
            <a:ext cx="1993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archived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Перенесена в архив (30+ дней без активности)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Сгоревшие УИП можно зарезервировать повторно.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785"/>
                </a:solidFill>
                <a:latin typeface="Calibri"/>
              </a:rPr>
              <a:t>     Неиспользованный за 30 дней номер возвращается в работу тем же номером.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Оплаченный в «Честном Знаке» код можно использовать дальше.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785"/>
                </a:solidFill>
                <a:latin typeface="Calibri"/>
              </a:rPr>
              <a:t>     Внутренние статусы не меняют статус в ЧЗ после регистрации.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Что автоматизировано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Регулярные процессы без участия человека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Контроль и резервирование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Мониторинг плана производства и своевременное резервирование партий.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Мониторинг резерва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Пороги 50% / 80% / 90% с уведомлениями и авто-снятием устаревших УИП.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630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66760" y="146304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6459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Контроль сгорания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Предупреждения по УИП, которым осталось мало до сгорания.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918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29184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Очистка и архивация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Удаление неиспользованных, закрытие, архивация, очистка старых логов.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918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329184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4747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Токены и доступы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Авто-обновление токена СУЗ; контроль доступности внешних сервисов.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29184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3291840"/>
            <a:ext cx="109728" cy="15544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Справочники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Синхронизация номенклатуры из «Честного Знака» и национального каталога.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Коды маркировки и агрегация (L1 / L2 / L3)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Полная иерархия «родитель — потомок».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L1 — потребительская упаковка, L2 — групповая (коробка), L3 — транспортная (паллета).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Каждый код — самостоятельная сущность с историей.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Уровень, статус со стороны ЧЗ и производства, привязка к УИП.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Поиск по любому коду с раскрытием полной иерархии.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Вверх — до паллеты, вниз — до всех вложенных единиц.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Поддержка агрегации, распаковки и переагрегации.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С фиксацией истории изменений.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Устойчивость к большим объёмам.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Коды хранятся в отдельных пулах; архив вынесен в выделенную БД.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Единый API и быстрый поиск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Для смежных систем и сотрудников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532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4E79"/>
                </a:solidFill>
                <a:latin typeface="Calibri"/>
              </a:rPr>
              <a:t>Интеграционный API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Справочники: цеха, линии, продукты (GTIN, упаковки, артикулы).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Проверка статуса одного УИП и пакетная проверка списка.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Список действующих УИП с фильтрами.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Единый поиск по УИП или коду DataMatrix.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Резервирование и генерация УИП (для администраторов).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Приём заданий и синхронизация кодов.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Проверка состояния сервиса внешними системами.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4E79"/>
                </a:solidFill>
                <a:latin typeface="Calibri"/>
              </a:rPr>
              <a:t>Поиск и документация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Единый поиск на странице и через API: тип определяется автоматически.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Управляющие символы DataMatrix (GS/FNC1) отбрасываются при поиске.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Интерактивная документация API (Swagger): /api/docs/.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Схема OpenAPI для интеграций: /api/schema/.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•  Публичные методы — для смежных систем; админские — по правам.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17320"/>
            <a:ext cx="18288" cy="466344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Надёжность синхронизации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Специально усилено по результатам анализа простоев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Персональная метка синхронизации по каждому заводу.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Сбой одного завода не влияет на остальные и не теряет его окно изменений.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Сбой не «съедает» данные — окно гарантированно повторяется.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При ошибке выгрузки метка не сдвигается; при успехе — запас 5 минут.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Быстрый автоматический повтор.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Задача с ошибкой повторяется через 5 минут, а не через час; ошибки видны в панели задач.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Идемпотентный приём заданий.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Повторная доставка безопасна: обновление по UUID, без дублей.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•  Ручной полный запуск синхронизации.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B7785"/>
                </a:solidFill>
                <a:latin typeface="Calibri"/>
              </a:rPr>
              <a:t>     Администратор может инициировать выгрузку заданий и кодов в один клик.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Прослеживаемость и аудит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Прозрачность на всех этапах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Каждое изменение статуса УИП фиксируется.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Кто, когда и из какого источника (админ/синхронизация/API/сервис).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Живая лента событий системы.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Заметные действия и ошибки отображаются в событийном журнале.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История по коду и партии.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Завод, цех, линия, задание, дата производства, сроки годности.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Контроль рассинхрона.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Флаг рассинхрона данных с «Честным Знаком» и история переходов.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Готовность к разбору инцидентов.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Быстро видно, где и когда возникло расхождение.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Безопасность и разграничение доступа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Публичные методы — без авторизации.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Только чтение справочников, статусов/поиска УИП, приём задания, статус сервиса.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Административные операции — по правам.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Резервирование, генерация, ручная синхронизация, настройки — только администраторы.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Секреты и конфигурация — вне кода.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Единый источник конфигурации; доступы СУЗ хранятся централизованно.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•  Аудит действий.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785"/>
                </a:solidFill>
                <a:latin typeface="Calibri"/>
              </a:rPr>
              <a:t>     Все значимые изменения фиксируются с автором и источником.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Технологии и эксплуатация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4E79"/>
                </a:solidFill>
                <a:latin typeface="Calibri"/>
              </a:rPr>
              <a:t>Стек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Python 3.14, Django 6 (ASGI / uvicorn).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PostgreSQL: рабочая и архивная БД.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REST API: Django REST Framework + Swagger.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Фоновые задачи и планировщик по расписанию.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UUIDv7 — упорядоченные идентификаторы.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4E79"/>
                </a:solidFill>
                <a:latin typeface="Calibri"/>
              </a:rPr>
              <a:t>Эксплуатация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Docker Compose — единый запуск web, планировщика и воркера.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CI/CD: автоматические проверки и деплой.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Версионирование по git-тегам.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Мультизаводность: настройки внешних сервисов на уровне завода.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•  Логи и мониторинг доступности внешних систем.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554480"/>
            <a:ext cx="18288" cy="448056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Эффект в цифрах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Оценочно, на один производственный участок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" cy="178308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Резервирование партии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Вручную ≈5 мин → автоматически ≈10 сек. До 30× быстрее.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109728" cy="178308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18488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Подстановка в отчёты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Вручную ≈3 мин на партию → 0: номер и GTIN подставляются автоматически.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4173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417320"/>
            <a:ext cx="109728" cy="1783080"/>
          </a:xfrm>
          <a:prstGeom prst="roundRect">
            <a:avLst>
              <a:gd name="adj" fmla="val 8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618488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GTIN → продукт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Ручной поиск ≈2 мин → мгновенно из справочника (Национальный каталог).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474720"/>
            <a:ext cx="109728" cy="178308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Экономия времени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≈8 мин на партию: ≈2,7 ч/сутки и ≈600 ч/год на участок.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4747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3474720"/>
            <a:ext cx="109728" cy="178308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675888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Ошибки и дубли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Риск ручного ввода исключён: контроль уникальности и идемпотентность.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4747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3474720"/>
            <a:ext cx="109728" cy="1783080"/>
          </a:xfrm>
          <a:prstGeom prst="roundRect">
            <a:avLst>
              <a:gd name="adj" fmla="val 8000"/>
            </a:avLst>
          </a:prstGeom>
          <a:solidFill>
            <a:srgbClr val="16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3675888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Срывы сроков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0 пропущенных УИП: контроль сгорания и авто-снятие с резерва.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785"/>
                </a:solidFill>
                <a:latin typeface="Calibri"/>
              </a:rPr>
              <a:t>Расчёт (консервативно, на участок): 5 мин (резерв) + 3 мин (подстановка в отчёт) + 2 мин (сопоставление GTIN) = 8 мин/партия; 20 партий/сутки × 250 рабочих дней ≈ 600 ч/год. Цифры уточняются по фактическим объёмам.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Эффект для бизнеса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E0F0"/>
                </a:solidFill>
                <a:latin typeface="Calibri"/>
              </a:rPr>
              <a:t>Итоги внедрения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Меньше ручного труда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До 600 ч/год на участок высвобождается у операторов.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7373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Меньше рисков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Снижение вероятности штрафов и простоев из-за ошибок маркировки.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46304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146304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7373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Данные сходятся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Единый источник правды по УИП и кодам между системами.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93192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Быстрее решения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Мгновенный поиск и полная история по коду и партии.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393192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Прозрачность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Руководство и 1С видят актуальные статусы и отчётность.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3931920"/>
            <a:ext cx="109728" cy="2148840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Масштабируемость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Готово к подключению новых заводов и систем.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Планы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Интеграция с системами технического зрения.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Приём событий считывания кодов с камер на производственных линиях, валидация партии и агрегации, сигнал оператору при расхождении.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Третий уровень агрегации (паллета / SSCC).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Сквозной сценарий до транспортной упаковки.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Расширение аналитики и отчётности.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Сводные показатели по заводам и линиям для руководства.</a:t>
            </a:r>
          </a:p>
          <a:p>
            <a:pPr algn="l">
              <a:spcAft>
                <a:spcPts val="200"/>
              </a:spcAft>
            </a:pPr>
            <a:r>
              <a:rPr sz="1650" b="0">
                <a:solidFill>
                  <a:srgbClr val="2B2B2B"/>
                </a:solidFill>
                <a:latin typeface="Calibri"/>
              </a:rPr>
              <a:t>•  Кэш на Redis.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6B7785"/>
                </a:solidFill>
                <a:latin typeface="Calibri"/>
              </a:rPr>
              <a:t>     Повышение производительности под растущей нагрузкой.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78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16052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2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Единый, автоматизированный и надёжный контур маркировки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CFE0F0"/>
                </a:solidFill>
                <a:latin typeface="Calibri"/>
              </a:rPr>
              <a:t>Меньше ручного труда, меньше рисков, полная прослеживаемость.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C0DC"/>
                </a:solidFill>
                <a:latin typeface="Calibri"/>
              </a:rPr>
              <a:t>Молвест.СистемаУправленияПартиями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FC0D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